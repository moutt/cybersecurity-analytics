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Inter Semi-Bold" charset="1" panose="02000503000000020004"/>
      <p:regular r:id="rId10"/>
    </p:embeddedFont>
    <p:embeddedFont>
      <p:font typeface="Inter" charset="1" panose="020B0502030000000004"/>
      <p:regular r:id="rId11"/>
    </p:embeddedFont>
    <p:embeddedFont>
      <p:font typeface="Inter Medium" charset="1" panose="02000503000000020004"/>
      <p:regular r:id="rId12"/>
    </p:embeddedFont>
    <p:embeddedFont>
      <p:font typeface="Open Sans Bold" charset="1" panose="020B0806030504020204"/>
      <p:regular r:id="rId13"/>
    </p:embeddedFont>
    <p:embeddedFont>
      <p:font typeface="Open Sans" charset="1" panose="020B0606030504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98189" cy="10287000"/>
          </a:xfrm>
          <a:custGeom>
            <a:avLst/>
            <a:gdLst/>
            <a:ahLst/>
            <a:cxnLst/>
            <a:rect r="r" b="b" t="t" l="l"/>
            <a:pathLst>
              <a:path h="10287000" w="18398189">
                <a:moveTo>
                  <a:pt x="0" y="0"/>
                </a:moveTo>
                <a:lnTo>
                  <a:pt x="18398189" y="0"/>
                </a:lnTo>
                <a:lnTo>
                  <a:pt x="183981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854" r="0" b="-398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8028" y="303398"/>
            <a:ext cx="563337" cy="563337"/>
          </a:xfrm>
          <a:custGeom>
            <a:avLst/>
            <a:gdLst/>
            <a:ahLst/>
            <a:cxnLst/>
            <a:rect r="r" b="b" t="t" l="l"/>
            <a:pathLst>
              <a:path h="563337" w="563337">
                <a:moveTo>
                  <a:pt x="0" y="0"/>
                </a:moveTo>
                <a:lnTo>
                  <a:pt x="563337" y="0"/>
                </a:lnTo>
                <a:lnTo>
                  <a:pt x="563337" y="563337"/>
                </a:lnTo>
                <a:lnTo>
                  <a:pt x="0" y="563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9697" y="2652557"/>
            <a:ext cx="12261355" cy="177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1"/>
              </a:lnSpc>
            </a:pPr>
            <a:r>
              <a:rPr lang="en-US" sz="6385" spc="-255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Nosso backlog cresce e o risco</a:t>
            </a:r>
          </a:p>
          <a:p>
            <a:pPr algn="l">
              <a:lnSpc>
                <a:spcPts val="7021"/>
              </a:lnSpc>
            </a:pPr>
            <a:r>
              <a:rPr lang="en-US" sz="6385" spc="-255" b="true">
                <a:solidFill>
                  <a:srgbClr val="40C6B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não está sendo priorizado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9697" y="4703638"/>
            <a:ext cx="6648069" cy="43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11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Gestão de Vulnerabilidades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9697" y="395884"/>
            <a:ext cx="4728227" cy="39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  <a:spcBef>
                <a:spcPct val="0"/>
              </a:spcBef>
            </a:pPr>
            <a:r>
              <a:rPr lang="en-US" b="true" sz="2781" spc="-8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CyberSecurity Analytics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6683" y="2504071"/>
            <a:ext cx="17348622" cy="6639300"/>
          </a:xfrm>
          <a:custGeom>
            <a:avLst/>
            <a:gdLst/>
            <a:ahLst/>
            <a:cxnLst/>
            <a:rect r="r" b="b" t="t" l="l"/>
            <a:pathLst>
              <a:path h="6639300" w="17348622">
                <a:moveTo>
                  <a:pt x="0" y="0"/>
                </a:moveTo>
                <a:lnTo>
                  <a:pt x="17348623" y="0"/>
                </a:lnTo>
                <a:lnTo>
                  <a:pt x="17348623" y="6639300"/>
                </a:lnTo>
                <a:lnTo>
                  <a:pt x="0" y="6639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8397" y="3334240"/>
            <a:ext cx="1611152" cy="236933"/>
            <a:chOff x="0" y="0"/>
            <a:chExt cx="424336" cy="624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4336" cy="62402"/>
            </a:xfrm>
            <a:custGeom>
              <a:avLst/>
              <a:gdLst/>
              <a:ahLst/>
              <a:cxnLst/>
              <a:rect r="r" b="b" t="t" l="l"/>
              <a:pathLst>
                <a:path h="62402" w="424336">
                  <a:moveTo>
                    <a:pt x="31201" y="0"/>
                  </a:moveTo>
                  <a:lnTo>
                    <a:pt x="393135" y="0"/>
                  </a:lnTo>
                  <a:cubicBezTo>
                    <a:pt x="410367" y="0"/>
                    <a:pt x="424336" y="13969"/>
                    <a:pt x="424336" y="31201"/>
                  </a:cubicBezTo>
                  <a:lnTo>
                    <a:pt x="424336" y="31201"/>
                  </a:lnTo>
                  <a:cubicBezTo>
                    <a:pt x="424336" y="48433"/>
                    <a:pt x="410367" y="62402"/>
                    <a:pt x="393135" y="62402"/>
                  </a:cubicBezTo>
                  <a:lnTo>
                    <a:pt x="31201" y="62402"/>
                  </a:lnTo>
                  <a:cubicBezTo>
                    <a:pt x="13969" y="62402"/>
                    <a:pt x="0" y="48433"/>
                    <a:pt x="0" y="31201"/>
                  </a:cubicBezTo>
                  <a:lnTo>
                    <a:pt x="0" y="31201"/>
                  </a:lnTo>
                  <a:cubicBezTo>
                    <a:pt x="0" y="13969"/>
                    <a:pt x="13969" y="0"/>
                    <a:pt x="31201" y="0"/>
                  </a:cubicBezTo>
                  <a:close/>
                </a:path>
              </a:pathLst>
            </a:custGeom>
            <a:solidFill>
              <a:srgbClr val="141B3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4336" cy="10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58089" y="387070"/>
            <a:ext cx="4787397" cy="41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2781" spc="-82" b="true">
                <a:solidFill>
                  <a:srgbClr val="3FCBBA"/>
                </a:solidFill>
                <a:latin typeface="Inter Medium"/>
                <a:ea typeface="Inter Medium"/>
                <a:cs typeface="Inter Medium"/>
                <a:sym typeface="Inter Medium"/>
              </a:rPr>
              <a:t>Principais indicadores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0866" y="1195885"/>
            <a:ext cx="7930128" cy="88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2759" spc="-110">
                <a:solidFill>
                  <a:srgbClr val="3FCBBA"/>
                </a:solidFill>
                <a:latin typeface="Inter"/>
                <a:ea typeface="Inter"/>
                <a:cs typeface="Inter"/>
                <a:sym typeface="Inter"/>
              </a:rPr>
              <a:t>77%</a:t>
            </a:r>
            <a:r>
              <a:rPr lang="en-US" sz="2759" spc="-11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das </a:t>
            </a:r>
            <a:r>
              <a:rPr lang="en-US" sz="2759" spc="-110">
                <a:solidFill>
                  <a:srgbClr val="3FCBBA"/>
                </a:solidFill>
                <a:latin typeface="Inter"/>
                <a:ea typeface="Inter"/>
                <a:cs typeface="Inter"/>
                <a:sym typeface="Inter"/>
              </a:rPr>
              <a:t>vulnerabilidades </a:t>
            </a:r>
            <a:r>
              <a:rPr lang="en-US" sz="2759" spc="-11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estão sem correção</a:t>
            </a:r>
          </a:p>
          <a:p>
            <a:pPr algn="l">
              <a:lnSpc>
                <a:spcPts val="3587"/>
              </a:lnSpc>
            </a:pPr>
            <a:r>
              <a:rPr lang="en-US" sz="2759" spc="-11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sendo </a:t>
            </a:r>
            <a:r>
              <a:rPr lang="en-US" sz="2759" spc="-110">
                <a:solidFill>
                  <a:srgbClr val="3FCBBA"/>
                </a:solidFill>
                <a:latin typeface="Inter"/>
                <a:ea typeface="Inter"/>
                <a:cs typeface="Inter"/>
                <a:sym typeface="Inter"/>
              </a:rPr>
              <a:t>172 críticas</a:t>
            </a:r>
            <a:r>
              <a:rPr lang="en-US" sz="2759" spc="-11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2759" spc="-110">
                <a:solidFill>
                  <a:srgbClr val="3FCBBA"/>
                </a:solidFill>
                <a:latin typeface="Inter"/>
                <a:ea typeface="Inter"/>
                <a:cs typeface="Inter"/>
                <a:sym typeface="Inter"/>
              </a:rPr>
              <a:t>57 </a:t>
            </a:r>
            <a:r>
              <a:rPr lang="en-US" sz="2759" spc="-11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dessas em </a:t>
            </a:r>
            <a:r>
              <a:rPr lang="en-US" sz="2759" spc="-110">
                <a:solidFill>
                  <a:srgbClr val="3FCBBA"/>
                </a:solidFill>
                <a:latin typeface="Inter"/>
                <a:ea typeface="Inter"/>
                <a:cs typeface="Inter"/>
                <a:sym typeface="Inter"/>
              </a:rPr>
              <a:t>produção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839429" y="3334240"/>
            <a:ext cx="1611152" cy="236933"/>
            <a:chOff x="0" y="0"/>
            <a:chExt cx="424336" cy="624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4336" cy="62402"/>
            </a:xfrm>
            <a:custGeom>
              <a:avLst/>
              <a:gdLst/>
              <a:ahLst/>
              <a:cxnLst/>
              <a:rect r="r" b="b" t="t" l="l"/>
              <a:pathLst>
                <a:path h="62402" w="424336">
                  <a:moveTo>
                    <a:pt x="31201" y="0"/>
                  </a:moveTo>
                  <a:lnTo>
                    <a:pt x="393135" y="0"/>
                  </a:lnTo>
                  <a:cubicBezTo>
                    <a:pt x="410367" y="0"/>
                    <a:pt x="424336" y="13969"/>
                    <a:pt x="424336" y="31201"/>
                  </a:cubicBezTo>
                  <a:lnTo>
                    <a:pt x="424336" y="31201"/>
                  </a:lnTo>
                  <a:cubicBezTo>
                    <a:pt x="424336" y="48433"/>
                    <a:pt x="410367" y="62402"/>
                    <a:pt x="393135" y="62402"/>
                  </a:cubicBezTo>
                  <a:lnTo>
                    <a:pt x="31201" y="62402"/>
                  </a:lnTo>
                  <a:cubicBezTo>
                    <a:pt x="13969" y="62402"/>
                    <a:pt x="0" y="48433"/>
                    <a:pt x="0" y="31201"/>
                  </a:cubicBezTo>
                  <a:lnTo>
                    <a:pt x="0" y="31201"/>
                  </a:lnTo>
                  <a:cubicBezTo>
                    <a:pt x="0" y="13969"/>
                    <a:pt x="13969" y="0"/>
                    <a:pt x="31201" y="0"/>
                  </a:cubicBezTo>
                  <a:close/>
                </a:path>
              </a:pathLst>
            </a:custGeom>
            <a:solidFill>
              <a:srgbClr val="141B3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4336" cy="10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8397" y="4601844"/>
            <a:ext cx="1913337" cy="236933"/>
            <a:chOff x="0" y="0"/>
            <a:chExt cx="503924" cy="624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3924" cy="62402"/>
            </a:xfrm>
            <a:custGeom>
              <a:avLst/>
              <a:gdLst/>
              <a:ahLst/>
              <a:cxnLst/>
              <a:rect r="r" b="b" t="t" l="l"/>
              <a:pathLst>
                <a:path h="62402" w="503924">
                  <a:moveTo>
                    <a:pt x="31201" y="0"/>
                  </a:moveTo>
                  <a:lnTo>
                    <a:pt x="472723" y="0"/>
                  </a:lnTo>
                  <a:cubicBezTo>
                    <a:pt x="489955" y="0"/>
                    <a:pt x="503924" y="13969"/>
                    <a:pt x="503924" y="31201"/>
                  </a:cubicBezTo>
                  <a:lnTo>
                    <a:pt x="503924" y="31201"/>
                  </a:lnTo>
                  <a:cubicBezTo>
                    <a:pt x="503924" y="48433"/>
                    <a:pt x="489955" y="62402"/>
                    <a:pt x="472723" y="62402"/>
                  </a:cubicBezTo>
                  <a:lnTo>
                    <a:pt x="31201" y="62402"/>
                  </a:lnTo>
                  <a:cubicBezTo>
                    <a:pt x="13969" y="62402"/>
                    <a:pt x="0" y="48433"/>
                    <a:pt x="0" y="31201"/>
                  </a:cubicBezTo>
                  <a:lnTo>
                    <a:pt x="0" y="31201"/>
                  </a:lnTo>
                  <a:cubicBezTo>
                    <a:pt x="0" y="13969"/>
                    <a:pt x="13969" y="0"/>
                    <a:pt x="31201" y="0"/>
                  </a:cubicBezTo>
                  <a:close/>
                </a:path>
              </a:pathLst>
            </a:custGeom>
            <a:solidFill>
              <a:srgbClr val="141B3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03924" cy="10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39429" y="4601844"/>
            <a:ext cx="1452865" cy="236933"/>
            <a:chOff x="0" y="0"/>
            <a:chExt cx="382648" cy="624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2648" cy="62402"/>
            </a:xfrm>
            <a:custGeom>
              <a:avLst/>
              <a:gdLst/>
              <a:ahLst/>
              <a:cxnLst/>
              <a:rect r="r" b="b" t="t" l="l"/>
              <a:pathLst>
                <a:path h="62402" w="382648">
                  <a:moveTo>
                    <a:pt x="31201" y="0"/>
                  </a:moveTo>
                  <a:lnTo>
                    <a:pt x="351447" y="0"/>
                  </a:lnTo>
                  <a:cubicBezTo>
                    <a:pt x="368678" y="0"/>
                    <a:pt x="382648" y="13969"/>
                    <a:pt x="382648" y="31201"/>
                  </a:cubicBezTo>
                  <a:lnTo>
                    <a:pt x="382648" y="31201"/>
                  </a:lnTo>
                  <a:cubicBezTo>
                    <a:pt x="382648" y="48433"/>
                    <a:pt x="368678" y="62402"/>
                    <a:pt x="351447" y="62402"/>
                  </a:cubicBezTo>
                  <a:lnTo>
                    <a:pt x="31201" y="62402"/>
                  </a:lnTo>
                  <a:cubicBezTo>
                    <a:pt x="13969" y="62402"/>
                    <a:pt x="0" y="48433"/>
                    <a:pt x="0" y="31201"/>
                  </a:cubicBezTo>
                  <a:lnTo>
                    <a:pt x="0" y="31201"/>
                  </a:lnTo>
                  <a:cubicBezTo>
                    <a:pt x="0" y="13969"/>
                    <a:pt x="13969" y="0"/>
                    <a:pt x="31201" y="0"/>
                  </a:cubicBezTo>
                  <a:close/>
                </a:path>
              </a:pathLst>
            </a:custGeom>
            <a:solidFill>
              <a:srgbClr val="141B3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82648" cy="10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93631" y="4601844"/>
            <a:ext cx="1452865" cy="236933"/>
            <a:chOff x="0" y="0"/>
            <a:chExt cx="382648" cy="624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2648" cy="62402"/>
            </a:xfrm>
            <a:custGeom>
              <a:avLst/>
              <a:gdLst/>
              <a:ahLst/>
              <a:cxnLst/>
              <a:rect r="r" b="b" t="t" l="l"/>
              <a:pathLst>
                <a:path h="62402" w="382648">
                  <a:moveTo>
                    <a:pt x="31201" y="0"/>
                  </a:moveTo>
                  <a:lnTo>
                    <a:pt x="351447" y="0"/>
                  </a:lnTo>
                  <a:cubicBezTo>
                    <a:pt x="368678" y="0"/>
                    <a:pt x="382648" y="13969"/>
                    <a:pt x="382648" y="31201"/>
                  </a:cubicBezTo>
                  <a:lnTo>
                    <a:pt x="382648" y="31201"/>
                  </a:lnTo>
                  <a:cubicBezTo>
                    <a:pt x="382648" y="48433"/>
                    <a:pt x="368678" y="62402"/>
                    <a:pt x="351447" y="62402"/>
                  </a:cubicBezTo>
                  <a:lnTo>
                    <a:pt x="31201" y="62402"/>
                  </a:lnTo>
                  <a:cubicBezTo>
                    <a:pt x="13969" y="62402"/>
                    <a:pt x="0" y="48433"/>
                    <a:pt x="0" y="31201"/>
                  </a:cubicBezTo>
                  <a:lnTo>
                    <a:pt x="0" y="31201"/>
                  </a:lnTo>
                  <a:cubicBezTo>
                    <a:pt x="0" y="13969"/>
                    <a:pt x="13969" y="0"/>
                    <a:pt x="31201" y="0"/>
                  </a:cubicBezTo>
                  <a:close/>
                </a:path>
              </a:pathLst>
            </a:custGeom>
            <a:solidFill>
              <a:srgbClr val="141B3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82648" cy="10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551621" y="4601844"/>
            <a:ext cx="1452865" cy="236933"/>
            <a:chOff x="0" y="0"/>
            <a:chExt cx="382648" cy="624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2648" cy="62402"/>
            </a:xfrm>
            <a:custGeom>
              <a:avLst/>
              <a:gdLst/>
              <a:ahLst/>
              <a:cxnLst/>
              <a:rect r="r" b="b" t="t" l="l"/>
              <a:pathLst>
                <a:path h="62402" w="382648">
                  <a:moveTo>
                    <a:pt x="31201" y="0"/>
                  </a:moveTo>
                  <a:lnTo>
                    <a:pt x="351447" y="0"/>
                  </a:lnTo>
                  <a:cubicBezTo>
                    <a:pt x="368678" y="0"/>
                    <a:pt x="382648" y="13969"/>
                    <a:pt x="382648" y="31201"/>
                  </a:cubicBezTo>
                  <a:lnTo>
                    <a:pt x="382648" y="31201"/>
                  </a:lnTo>
                  <a:cubicBezTo>
                    <a:pt x="382648" y="48433"/>
                    <a:pt x="368678" y="62402"/>
                    <a:pt x="351447" y="62402"/>
                  </a:cubicBezTo>
                  <a:lnTo>
                    <a:pt x="31201" y="62402"/>
                  </a:lnTo>
                  <a:cubicBezTo>
                    <a:pt x="13969" y="62402"/>
                    <a:pt x="0" y="48433"/>
                    <a:pt x="0" y="31201"/>
                  </a:cubicBezTo>
                  <a:lnTo>
                    <a:pt x="0" y="31201"/>
                  </a:lnTo>
                  <a:cubicBezTo>
                    <a:pt x="0" y="13969"/>
                    <a:pt x="13969" y="0"/>
                    <a:pt x="31201" y="0"/>
                  </a:cubicBezTo>
                  <a:close/>
                </a:path>
              </a:pathLst>
            </a:custGeom>
            <a:solidFill>
              <a:srgbClr val="141B3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82648" cy="10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38028" y="303398"/>
            <a:ext cx="563337" cy="563337"/>
          </a:xfrm>
          <a:custGeom>
            <a:avLst/>
            <a:gdLst/>
            <a:ahLst/>
            <a:cxnLst/>
            <a:rect r="r" b="b" t="t" l="l"/>
            <a:pathLst>
              <a:path h="563337" w="563337">
                <a:moveTo>
                  <a:pt x="0" y="0"/>
                </a:moveTo>
                <a:lnTo>
                  <a:pt x="563337" y="0"/>
                </a:lnTo>
                <a:lnTo>
                  <a:pt x="563337" y="563337"/>
                </a:lnTo>
                <a:lnTo>
                  <a:pt x="0" y="563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19697" y="395884"/>
            <a:ext cx="4728227" cy="39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  <a:spcBef>
                <a:spcPct val="0"/>
              </a:spcBef>
            </a:pPr>
            <a:r>
              <a:rPr lang="en-US" b="true" sz="2781" spc="-8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CyberSecurity Analytics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8028" y="303398"/>
            <a:ext cx="563337" cy="563337"/>
          </a:xfrm>
          <a:custGeom>
            <a:avLst/>
            <a:gdLst/>
            <a:ahLst/>
            <a:cxnLst/>
            <a:rect r="r" b="b" t="t" l="l"/>
            <a:pathLst>
              <a:path h="563337" w="563337">
                <a:moveTo>
                  <a:pt x="0" y="0"/>
                </a:moveTo>
                <a:lnTo>
                  <a:pt x="563337" y="0"/>
                </a:lnTo>
                <a:lnTo>
                  <a:pt x="563337" y="563337"/>
                </a:lnTo>
                <a:lnTo>
                  <a:pt x="0" y="563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8028" y="2433168"/>
            <a:ext cx="17267505" cy="6749296"/>
          </a:xfrm>
          <a:custGeom>
            <a:avLst/>
            <a:gdLst/>
            <a:ahLst/>
            <a:cxnLst/>
            <a:rect r="r" b="b" t="t" l="l"/>
            <a:pathLst>
              <a:path h="6749296" w="17267505">
                <a:moveTo>
                  <a:pt x="0" y="0"/>
                </a:moveTo>
                <a:lnTo>
                  <a:pt x="17267506" y="0"/>
                </a:lnTo>
                <a:lnTo>
                  <a:pt x="17267506" y="6749295"/>
                </a:lnTo>
                <a:lnTo>
                  <a:pt x="0" y="6749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9697" y="395884"/>
            <a:ext cx="4728227" cy="39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  <a:spcBef>
                <a:spcPct val="0"/>
              </a:spcBef>
            </a:pPr>
            <a:r>
              <a:rPr lang="en-US" b="true" sz="2781" spc="-8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CyberSecurity Analytics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8028" y="1217717"/>
            <a:ext cx="6648069" cy="133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2759" spc="-11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Taxa de correção: </a:t>
            </a:r>
            <a:r>
              <a:rPr lang="en-US" sz="2759" spc="-110">
                <a:solidFill>
                  <a:srgbClr val="3FCBBA"/>
                </a:solidFill>
                <a:latin typeface="Inter"/>
                <a:ea typeface="Inter"/>
                <a:cs typeface="Inter"/>
                <a:sym typeface="Inter"/>
              </a:rPr>
              <a:t>23%</a:t>
            </a:r>
            <a:r>
              <a:rPr lang="en-US" sz="2759" spc="-11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584"/>
              </a:lnSpc>
            </a:pPr>
            <a:r>
              <a:rPr lang="en-US" sz="2759" spc="-11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sem diferença entre críticas e baixas</a:t>
            </a:r>
          </a:p>
          <a:p>
            <a:pPr algn="l">
              <a:lnSpc>
                <a:spcPts val="358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730839" y="3740009"/>
            <a:ext cx="1452865" cy="236933"/>
            <a:chOff x="0" y="0"/>
            <a:chExt cx="382648" cy="624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2648" cy="62402"/>
            </a:xfrm>
            <a:custGeom>
              <a:avLst/>
              <a:gdLst/>
              <a:ahLst/>
              <a:cxnLst/>
              <a:rect r="r" b="b" t="t" l="l"/>
              <a:pathLst>
                <a:path h="62402" w="382648">
                  <a:moveTo>
                    <a:pt x="31201" y="0"/>
                  </a:moveTo>
                  <a:lnTo>
                    <a:pt x="351447" y="0"/>
                  </a:lnTo>
                  <a:cubicBezTo>
                    <a:pt x="368678" y="0"/>
                    <a:pt x="382648" y="13969"/>
                    <a:pt x="382648" y="31201"/>
                  </a:cubicBezTo>
                  <a:lnTo>
                    <a:pt x="382648" y="31201"/>
                  </a:lnTo>
                  <a:cubicBezTo>
                    <a:pt x="382648" y="48433"/>
                    <a:pt x="368678" y="62402"/>
                    <a:pt x="351447" y="62402"/>
                  </a:cubicBezTo>
                  <a:lnTo>
                    <a:pt x="31201" y="62402"/>
                  </a:lnTo>
                  <a:cubicBezTo>
                    <a:pt x="13969" y="62402"/>
                    <a:pt x="0" y="48433"/>
                    <a:pt x="0" y="31201"/>
                  </a:cubicBezTo>
                  <a:lnTo>
                    <a:pt x="0" y="31201"/>
                  </a:lnTo>
                  <a:cubicBezTo>
                    <a:pt x="0" y="13969"/>
                    <a:pt x="13969" y="0"/>
                    <a:pt x="31201" y="0"/>
                  </a:cubicBezTo>
                  <a:close/>
                </a:path>
              </a:pathLst>
            </a:custGeom>
            <a:solidFill>
              <a:srgbClr val="141B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2648" cy="10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25519" y="3740009"/>
            <a:ext cx="1452865" cy="236933"/>
            <a:chOff x="0" y="0"/>
            <a:chExt cx="382648" cy="624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2648" cy="62402"/>
            </a:xfrm>
            <a:custGeom>
              <a:avLst/>
              <a:gdLst/>
              <a:ahLst/>
              <a:cxnLst/>
              <a:rect r="r" b="b" t="t" l="l"/>
              <a:pathLst>
                <a:path h="62402" w="382648">
                  <a:moveTo>
                    <a:pt x="31201" y="0"/>
                  </a:moveTo>
                  <a:lnTo>
                    <a:pt x="351447" y="0"/>
                  </a:lnTo>
                  <a:cubicBezTo>
                    <a:pt x="368678" y="0"/>
                    <a:pt x="382648" y="13969"/>
                    <a:pt x="382648" y="31201"/>
                  </a:cubicBezTo>
                  <a:lnTo>
                    <a:pt x="382648" y="31201"/>
                  </a:lnTo>
                  <a:cubicBezTo>
                    <a:pt x="382648" y="48433"/>
                    <a:pt x="368678" y="62402"/>
                    <a:pt x="351447" y="62402"/>
                  </a:cubicBezTo>
                  <a:lnTo>
                    <a:pt x="31201" y="62402"/>
                  </a:lnTo>
                  <a:cubicBezTo>
                    <a:pt x="13969" y="62402"/>
                    <a:pt x="0" y="48433"/>
                    <a:pt x="0" y="31201"/>
                  </a:cubicBezTo>
                  <a:lnTo>
                    <a:pt x="0" y="31201"/>
                  </a:lnTo>
                  <a:cubicBezTo>
                    <a:pt x="0" y="13969"/>
                    <a:pt x="13969" y="0"/>
                    <a:pt x="31201" y="0"/>
                  </a:cubicBezTo>
                  <a:close/>
                </a:path>
              </a:pathLst>
            </a:custGeom>
            <a:solidFill>
              <a:srgbClr val="141B3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82648" cy="10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845355" y="3740009"/>
            <a:ext cx="1812226" cy="236933"/>
            <a:chOff x="0" y="0"/>
            <a:chExt cx="477294" cy="624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7294" cy="62402"/>
            </a:xfrm>
            <a:custGeom>
              <a:avLst/>
              <a:gdLst/>
              <a:ahLst/>
              <a:cxnLst/>
              <a:rect r="r" b="b" t="t" l="l"/>
              <a:pathLst>
                <a:path h="62402" w="477294">
                  <a:moveTo>
                    <a:pt x="31201" y="0"/>
                  </a:moveTo>
                  <a:lnTo>
                    <a:pt x="446093" y="0"/>
                  </a:lnTo>
                  <a:cubicBezTo>
                    <a:pt x="454368" y="0"/>
                    <a:pt x="462304" y="3287"/>
                    <a:pt x="468156" y="9139"/>
                  </a:cubicBezTo>
                  <a:cubicBezTo>
                    <a:pt x="474007" y="14990"/>
                    <a:pt x="477294" y="22926"/>
                    <a:pt x="477294" y="31201"/>
                  </a:cubicBezTo>
                  <a:lnTo>
                    <a:pt x="477294" y="31201"/>
                  </a:lnTo>
                  <a:cubicBezTo>
                    <a:pt x="477294" y="48433"/>
                    <a:pt x="463325" y="62402"/>
                    <a:pt x="446093" y="62402"/>
                  </a:cubicBezTo>
                  <a:lnTo>
                    <a:pt x="31201" y="62402"/>
                  </a:lnTo>
                  <a:cubicBezTo>
                    <a:pt x="13969" y="62402"/>
                    <a:pt x="0" y="48433"/>
                    <a:pt x="0" y="31201"/>
                  </a:cubicBezTo>
                  <a:lnTo>
                    <a:pt x="0" y="31201"/>
                  </a:lnTo>
                  <a:cubicBezTo>
                    <a:pt x="0" y="13969"/>
                    <a:pt x="13969" y="0"/>
                    <a:pt x="31201" y="0"/>
                  </a:cubicBezTo>
                  <a:close/>
                </a:path>
              </a:pathLst>
            </a:custGeom>
            <a:solidFill>
              <a:srgbClr val="141B3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77294" cy="10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8028" y="303398"/>
            <a:ext cx="563337" cy="563337"/>
          </a:xfrm>
          <a:custGeom>
            <a:avLst/>
            <a:gdLst/>
            <a:ahLst/>
            <a:cxnLst/>
            <a:rect r="r" b="b" t="t" l="l"/>
            <a:pathLst>
              <a:path h="563337" w="563337">
                <a:moveTo>
                  <a:pt x="0" y="0"/>
                </a:moveTo>
                <a:lnTo>
                  <a:pt x="563337" y="0"/>
                </a:lnTo>
                <a:lnTo>
                  <a:pt x="563337" y="563337"/>
                </a:lnTo>
                <a:lnTo>
                  <a:pt x="0" y="563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2163">
            <a:off x="3727899" y="1439794"/>
            <a:ext cx="431826" cy="546615"/>
          </a:xfrm>
          <a:custGeom>
            <a:avLst/>
            <a:gdLst/>
            <a:ahLst/>
            <a:cxnLst/>
            <a:rect r="r" b="b" t="t" l="l"/>
            <a:pathLst>
              <a:path h="546615" w="431826">
                <a:moveTo>
                  <a:pt x="0" y="0"/>
                </a:moveTo>
                <a:lnTo>
                  <a:pt x="431826" y="0"/>
                </a:lnTo>
                <a:lnTo>
                  <a:pt x="431826" y="546615"/>
                </a:lnTo>
                <a:lnTo>
                  <a:pt x="0" y="546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3353" y="1176339"/>
            <a:ext cx="4787397" cy="41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2781" spc="-82" b="true">
                <a:solidFill>
                  <a:srgbClr val="3FCBBA"/>
                </a:solidFill>
                <a:latin typeface="Inter Medium"/>
                <a:ea typeface="Inter Medium"/>
                <a:cs typeface="Inter Medium"/>
                <a:sym typeface="Inter Medium"/>
              </a:rPr>
              <a:t>Próximos passos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492163">
            <a:off x="4038730" y="883981"/>
            <a:ext cx="431826" cy="546615"/>
          </a:xfrm>
          <a:custGeom>
            <a:avLst/>
            <a:gdLst/>
            <a:ahLst/>
            <a:cxnLst/>
            <a:rect r="r" b="b" t="t" l="l"/>
            <a:pathLst>
              <a:path h="546615" w="431826">
                <a:moveTo>
                  <a:pt x="0" y="0"/>
                </a:moveTo>
                <a:lnTo>
                  <a:pt x="431826" y="0"/>
                </a:lnTo>
                <a:lnTo>
                  <a:pt x="431826" y="546615"/>
                </a:lnTo>
                <a:lnTo>
                  <a:pt x="0" y="546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02903" y="2827361"/>
            <a:ext cx="5161815" cy="1732815"/>
            <a:chOff x="0" y="0"/>
            <a:chExt cx="1359490" cy="4563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9490" cy="456379"/>
            </a:xfrm>
            <a:custGeom>
              <a:avLst/>
              <a:gdLst/>
              <a:ahLst/>
              <a:cxnLst/>
              <a:rect r="r" b="b" t="t" l="l"/>
              <a:pathLst>
                <a:path h="456379" w="1359490">
                  <a:moveTo>
                    <a:pt x="47995" y="0"/>
                  </a:moveTo>
                  <a:lnTo>
                    <a:pt x="1311495" y="0"/>
                  </a:lnTo>
                  <a:cubicBezTo>
                    <a:pt x="1324224" y="0"/>
                    <a:pt x="1336432" y="5057"/>
                    <a:pt x="1345433" y="14057"/>
                  </a:cubicBezTo>
                  <a:cubicBezTo>
                    <a:pt x="1354434" y="23058"/>
                    <a:pt x="1359490" y="35266"/>
                    <a:pt x="1359490" y="47995"/>
                  </a:cubicBezTo>
                  <a:lnTo>
                    <a:pt x="1359490" y="408384"/>
                  </a:lnTo>
                  <a:cubicBezTo>
                    <a:pt x="1359490" y="421113"/>
                    <a:pt x="1354434" y="433321"/>
                    <a:pt x="1345433" y="442322"/>
                  </a:cubicBezTo>
                  <a:cubicBezTo>
                    <a:pt x="1336432" y="451323"/>
                    <a:pt x="1324224" y="456379"/>
                    <a:pt x="1311495" y="456379"/>
                  </a:cubicBezTo>
                  <a:lnTo>
                    <a:pt x="47995" y="456379"/>
                  </a:lnTo>
                  <a:cubicBezTo>
                    <a:pt x="35266" y="456379"/>
                    <a:pt x="23058" y="451323"/>
                    <a:pt x="14057" y="442322"/>
                  </a:cubicBezTo>
                  <a:cubicBezTo>
                    <a:pt x="5057" y="433321"/>
                    <a:pt x="0" y="421113"/>
                    <a:pt x="0" y="408384"/>
                  </a:cubicBezTo>
                  <a:lnTo>
                    <a:pt x="0" y="47995"/>
                  </a:lnTo>
                  <a:cubicBezTo>
                    <a:pt x="0" y="35266"/>
                    <a:pt x="5057" y="23058"/>
                    <a:pt x="14057" y="14057"/>
                  </a:cubicBezTo>
                  <a:cubicBezTo>
                    <a:pt x="23058" y="5057"/>
                    <a:pt x="35266" y="0"/>
                    <a:pt x="47995" y="0"/>
                  </a:cubicBezTo>
                  <a:close/>
                </a:path>
              </a:pathLst>
            </a:custGeom>
            <a:solidFill>
              <a:srgbClr val="18203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59490" cy="49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Começar pelos riscos mais graves</a:t>
              </a:r>
            </a:p>
            <a:p>
              <a:pPr algn="just">
                <a:lnSpc>
                  <a:spcPts val="2659"/>
                </a:lnSpc>
              </a:pP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Focar nos </a:t>
              </a:r>
              <a:r>
                <a:rPr lang="en-US" sz="1700">
                  <a:solidFill>
                    <a:srgbClr val="3FCBBA"/>
                  </a:solidFill>
                  <a:latin typeface="Open Sans"/>
                  <a:ea typeface="Open Sans"/>
                  <a:cs typeface="Open Sans"/>
                  <a:sym typeface="Open Sans"/>
                </a:rPr>
                <a:t>75 itens</a:t>
              </a: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que estão no </a:t>
              </a:r>
              <a:r>
                <a:rPr lang="en-US" sz="1700">
                  <a:solidFill>
                    <a:srgbClr val="3FCBBA"/>
                  </a:solidFill>
                  <a:latin typeface="Open Sans"/>
                  <a:ea typeface="Open Sans"/>
                  <a:cs typeface="Open Sans"/>
                  <a:sym typeface="Open Sans"/>
                </a:rPr>
                <a:t>P1 </a:t>
              </a: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(CVSS ≥ 9)</a:t>
              </a:r>
            </a:p>
            <a:p>
              <a:pPr algn="l" marL="367031" indent="-183515" lvl="1">
                <a:lnSpc>
                  <a:spcPts val="2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Revisar </a:t>
              </a:r>
              <a:r>
                <a:rPr lang="en-US" sz="1700">
                  <a:solidFill>
                    <a:srgbClr val="3FCBBA"/>
                  </a:solidFill>
                  <a:latin typeface="Open Sans"/>
                  <a:ea typeface="Open Sans"/>
                  <a:cs typeface="Open Sans"/>
                  <a:sym typeface="Open Sans"/>
                </a:rPr>
                <a:t>53 riscos</a:t>
              </a: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em produção com </a:t>
              </a:r>
              <a:r>
                <a:rPr lang="en-US" sz="1700">
                  <a:solidFill>
                    <a:srgbClr val="3FCBBA"/>
                  </a:solidFill>
                  <a:latin typeface="Open Sans"/>
                  <a:ea typeface="Open Sans"/>
                  <a:cs typeface="Open Sans"/>
                  <a:sym typeface="Open Sans"/>
                </a:rPr>
                <a:t>CVSS ≥ 7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6927" y="5009247"/>
            <a:ext cx="5161815" cy="1732815"/>
            <a:chOff x="0" y="0"/>
            <a:chExt cx="1359490" cy="456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9490" cy="456379"/>
            </a:xfrm>
            <a:custGeom>
              <a:avLst/>
              <a:gdLst/>
              <a:ahLst/>
              <a:cxnLst/>
              <a:rect r="r" b="b" t="t" l="l"/>
              <a:pathLst>
                <a:path h="456379" w="1359490">
                  <a:moveTo>
                    <a:pt x="47995" y="0"/>
                  </a:moveTo>
                  <a:lnTo>
                    <a:pt x="1311495" y="0"/>
                  </a:lnTo>
                  <a:cubicBezTo>
                    <a:pt x="1324224" y="0"/>
                    <a:pt x="1336432" y="5057"/>
                    <a:pt x="1345433" y="14057"/>
                  </a:cubicBezTo>
                  <a:cubicBezTo>
                    <a:pt x="1354434" y="23058"/>
                    <a:pt x="1359490" y="35266"/>
                    <a:pt x="1359490" y="47995"/>
                  </a:cubicBezTo>
                  <a:lnTo>
                    <a:pt x="1359490" y="408384"/>
                  </a:lnTo>
                  <a:cubicBezTo>
                    <a:pt x="1359490" y="421113"/>
                    <a:pt x="1354434" y="433321"/>
                    <a:pt x="1345433" y="442322"/>
                  </a:cubicBezTo>
                  <a:cubicBezTo>
                    <a:pt x="1336432" y="451323"/>
                    <a:pt x="1324224" y="456379"/>
                    <a:pt x="1311495" y="456379"/>
                  </a:cubicBezTo>
                  <a:lnTo>
                    <a:pt x="47995" y="456379"/>
                  </a:lnTo>
                  <a:cubicBezTo>
                    <a:pt x="35266" y="456379"/>
                    <a:pt x="23058" y="451323"/>
                    <a:pt x="14057" y="442322"/>
                  </a:cubicBezTo>
                  <a:cubicBezTo>
                    <a:pt x="5057" y="433321"/>
                    <a:pt x="0" y="421113"/>
                    <a:pt x="0" y="408384"/>
                  </a:cubicBezTo>
                  <a:lnTo>
                    <a:pt x="0" y="47995"/>
                  </a:lnTo>
                  <a:cubicBezTo>
                    <a:pt x="0" y="35266"/>
                    <a:pt x="5057" y="23058"/>
                    <a:pt x="14057" y="14057"/>
                  </a:cubicBezTo>
                  <a:cubicBezTo>
                    <a:pt x="23058" y="5057"/>
                    <a:pt x="35266" y="0"/>
                    <a:pt x="47995" y="0"/>
                  </a:cubicBezTo>
                  <a:close/>
                </a:path>
              </a:pathLst>
            </a:custGeom>
            <a:solidFill>
              <a:srgbClr val="18203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59490" cy="49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Priorizar por risco</a:t>
              </a:r>
            </a:p>
            <a:p>
              <a:pPr algn="l">
                <a:lnSpc>
                  <a:spcPts val="2380"/>
                </a:lnSpc>
              </a:pP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Formalizar </a:t>
              </a:r>
              <a:r>
                <a:rPr lang="en-US" sz="1700">
                  <a:solidFill>
                    <a:srgbClr val="3FCBBA"/>
                  </a:solidFill>
                  <a:latin typeface="Open Sans"/>
                  <a:ea typeface="Open Sans"/>
                  <a:cs typeface="Open Sans"/>
                  <a:sym typeface="Open Sans"/>
                </a:rPr>
                <a:t>fila P1-P4</a:t>
              </a: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e </a:t>
              </a:r>
              <a:r>
                <a:rPr lang="en-US" sz="1700">
                  <a:solidFill>
                    <a:srgbClr val="3FCBBA"/>
                  </a:solidFill>
                  <a:latin typeface="Open Sans"/>
                  <a:ea typeface="Open Sans"/>
                  <a:cs typeface="Open Sans"/>
                  <a:sym typeface="Open Sans"/>
                </a:rPr>
                <a:t>SLA </a:t>
              </a: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por prioridade</a:t>
              </a:r>
            </a:p>
            <a:p>
              <a:pPr algn="l" marL="367031" indent="-183515" lvl="1">
                <a:lnSpc>
                  <a:spcPts val="2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Focar no </a:t>
              </a:r>
              <a:r>
                <a:rPr lang="en-US" sz="1700">
                  <a:solidFill>
                    <a:srgbClr val="3FCBBA"/>
                  </a:solidFill>
                  <a:latin typeface="Open Sans"/>
                  <a:ea typeface="Open Sans"/>
                  <a:cs typeface="Open Sans"/>
                  <a:sym typeface="Open Sans"/>
                </a:rPr>
                <a:t>backlog &gt; 180 dias</a:t>
              </a: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, começando por </a:t>
              </a:r>
              <a:r>
                <a:rPr lang="en-US" sz="1700">
                  <a:solidFill>
                    <a:srgbClr val="3FCBBA"/>
                  </a:solidFill>
                  <a:latin typeface="Open Sans"/>
                  <a:ea typeface="Open Sans"/>
                  <a:cs typeface="Open Sans"/>
                  <a:sym typeface="Open Sans"/>
                </a:rPr>
                <a:t>P1 e P2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80636" y="2827361"/>
            <a:ext cx="5161815" cy="1732815"/>
            <a:chOff x="0" y="0"/>
            <a:chExt cx="1359490" cy="4563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9490" cy="456379"/>
            </a:xfrm>
            <a:custGeom>
              <a:avLst/>
              <a:gdLst/>
              <a:ahLst/>
              <a:cxnLst/>
              <a:rect r="r" b="b" t="t" l="l"/>
              <a:pathLst>
                <a:path h="456379" w="1359490">
                  <a:moveTo>
                    <a:pt x="47995" y="0"/>
                  </a:moveTo>
                  <a:lnTo>
                    <a:pt x="1311495" y="0"/>
                  </a:lnTo>
                  <a:cubicBezTo>
                    <a:pt x="1324224" y="0"/>
                    <a:pt x="1336432" y="5057"/>
                    <a:pt x="1345433" y="14057"/>
                  </a:cubicBezTo>
                  <a:cubicBezTo>
                    <a:pt x="1354434" y="23058"/>
                    <a:pt x="1359490" y="35266"/>
                    <a:pt x="1359490" y="47995"/>
                  </a:cubicBezTo>
                  <a:lnTo>
                    <a:pt x="1359490" y="408384"/>
                  </a:lnTo>
                  <a:cubicBezTo>
                    <a:pt x="1359490" y="421113"/>
                    <a:pt x="1354434" y="433321"/>
                    <a:pt x="1345433" y="442322"/>
                  </a:cubicBezTo>
                  <a:cubicBezTo>
                    <a:pt x="1336432" y="451323"/>
                    <a:pt x="1324224" y="456379"/>
                    <a:pt x="1311495" y="456379"/>
                  </a:cubicBezTo>
                  <a:lnTo>
                    <a:pt x="47995" y="456379"/>
                  </a:lnTo>
                  <a:cubicBezTo>
                    <a:pt x="35266" y="456379"/>
                    <a:pt x="23058" y="451323"/>
                    <a:pt x="14057" y="442322"/>
                  </a:cubicBezTo>
                  <a:cubicBezTo>
                    <a:pt x="5057" y="433321"/>
                    <a:pt x="0" y="421113"/>
                    <a:pt x="0" y="408384"/>
                  </a:cubicBezTo>
                  <a:lnTo>
                    <a:pt x="0" y="47995"/>
                  </a:lnTo>
                  <a:cubicBezTo>
                    <a:pt x="0" y="35266"/>
                    <a:pt x="5057" y="23058"/>
                    <a:pt x="14057" y="14057"/>
                  </a:cubicBezTo>
                  <a:cubicBezTo>
                    <a:pt x="23058" y="5057"/>
                    <a:pt x="35266" y="0"/>
                    <a:pt x="47995" y="0"/>
                  </a:cubicBezTo>
                  <a:close/>
                </a:path>
              </a:pathLst>
            </a:custGeom>
            <a:solidFill>
              <a:srgbClr val="18203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59490" cy="49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Governança de dados</a:t>
              </a:r>
            </a:p>
            <a:p>
              <a:pPr algn="l">
                <a:lnSpc>
                  <a:spcPts val="2380"/>
                </a:lnSpc>
              </a:pP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Governança de risco, com aprovador, justificativa e prazo para revisão</a:t>
              </a:r>
            </a:p>
            <a:p>
              <a:pPr algn="l" marL="367031" indent="-183515" lvl="1">
                <a:lnSpc>
                  <a:spcPts val="2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Acompanhamento de painel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2903" y="7621990"/>
            <a:ext cx="3116625" cy="644082"/>
            <a:chOff x="0" y="0"/>
            <a:chExt cx="820840" cy="1696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0840" cy="169635"/>
            </a:xfrm>
            <a:custGeom>
              <a:avLst/>
              <a:gdLst/>
              <a:ahLst/>
              <a:cxnLst/>
              <a:rect r="r" b="b" t="t" l="l"/>
              <a:pathLst>
                <a:path h="169635" w="820840">
                  <a:moveTo>
                    <a:pt x="79490" y="0"/>
                  </a:moveTo>
                  <a:lnTo>
                    <a:pt x="741349" y="0"/>
                  </a:lnTo>
                  <a:cubicBezTo>
                    <a:pt x="762431" y="0"/>
                    <a:pt x="782650" y="8375"/>
                    <a:pt x="797557" y="23282"/>
                  </a:cubicBezTo>
                  <a:cubicBezTo>
                    <a:pt x="812465" y="38189"/>
                    <a:pt x="820840" y="58408"/>
                    <a:pt x="820840" y="79490"/>
                  </a:cubicBezTo>
                  <a:lnTo>
                    <a:pt x="820840" y="90145"/>
                  </a:lnTo>
                  <a:cubicBezTo>
                    <a:pt x="820840" y="111227"/>
                    <a:pt x="812465" y="131445"/>
                    <a:pt x="797557" y="146353"/>
                  </a:cubicBezTo>
                  <a:cubicBezTo>
                    <a:pt x="782650" y="161260"/>
                    <a:pt x="762431" y="169635"/>
                    <a:pt x="741349" y="169635"/>
                  </a:cubicBezTo>
                  <a:lnTo>
                    <a:pt x="79490" y="169635"/>
                  </a:lnTo>
                  <a:cubicBezTo>
                    <a:pt x="58408" y="169635"/>
                    <a:pt x="38189" y="161260"/>
                    <a:pt x="23282" y="146353"/>
                  </a:cubicBezTo>
                  <a:cubicBezTo>
                    <a:pt x="8375" y="131445"/>
                    <a:pt x="0" y="111227"/>
                    <a:pt x="0" y="90145"/>
                  </a:cubicBezTo>
                  <a:lnTo>
                    <a:pt x="0" y="79490"/>
                  </a:lnTo>
                  <a:cubicBezTo>
                    <a:pt x="0" y="58408"/>
                    <a:pt x="8375" y="38189"/>
                    <a:pt x="23282" y="23282"/>
                  </a:cubicBezTo>
                  <a:cubicBezTo>
                    <a:pt x="38189" y="8375"/>
                    <a:pt x="58408" y="0"/>
                    <a:pt x="79490" y="0"/>
                  </a:cubicBezTo>
                  <a:close/>
                </a:path>
              </a:pathLst>
            </a:custGeom>
            <a:solidFill>
              <a:srgbClr val="18203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20840" cy="207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Metas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4160450">
            <a:off x="4717797" y="4423332"/>
            <a:ext cx="1244005" cy="2221438"/>
          </a:xfrm>
          <a:custGeom>
            <a:avLst/>
            <a:gdLst/>
            <a:ahLst/>
            <a:cxnLst/>
            <a:rect r="r" b="b" t="t" l="l"/>
            <a:pathLst>
              <a:path h="2221438" w="1244005">
                <a:moveTo>
                  <a:pt x="0" y="0"/>
                </a:moveTo>
                <a:lnTo>
                  <a:pt x="1244005" y="0"/>
                </a:lnTo>
                <a:lnTo>
                  <a:pt x="1244005" y="2221438"/>
                </a:lnTo>
                <a:lnTo>
                  <a:pt x="0" y="22214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8607227">
            <a:off x="12107843" y="4368633"/>
            <a:ext cx="1244005" cy="2221438"/>
          </a:xfrm>
          <a:custGeom>
            <a:avLst/>
            <a:gdLst/>
            <a:ahLst/>
            <a:cxnLst/>
            <a:rect r="r" b="b" t="t" l="l"/>
            <a:pathLst>
              <a:path h="2221438" w="1244005">
                <a:moveTo>
                  <a:pt x="0" y="0"/>
                </a:moveTo>
                <a:lnTo>
                  <a:pt x="1244005" y="0"/>
                </a:lnTo>
                <a:lnTo>
                  <a:pt x="1244005" y="2221438"/>
                </a:lnTo>
                <a:lnTo>
                  <a:pt x="0" y="22214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6927" y="8407883"/>
            <a:ext cx="15814145" cy="1458966"/>
          </a:xfrm>
          <a:custGeom>
            <a:avLst/>
            <a:gdLst/>
            <a:ahLst/>
            <a:cxnLst/>
            <a:rect r="r" b="b" t="t" l="l"/>
            <a:pathLst>
              <a:path h="1458966" w="15814145">
                <a:moveTo>
                  <a:pt x="0" y="0"/>
                </a:moveTo>
                <a:lnTo>
                  <a:pt x="15814146" y="0"/>
                </a:lnTo>
                <a:lnTo>
                  <a:pt x="15814146" y="1458966"/>
                </a:lnTo>
                <a:lnTo>
                  <a:pt x="0" y="14589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9697" y="395884"/>
            <a:ext cx="4728227" cy="39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  <a:spcBef>
                <a:spcPct val="0"/>
              </a:spcBef>
            </a:pPr>
            <a:r>
              <a:rPr lang="en-US" b="true" sz="2781" spc="-8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CyberSecurity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DAHXM25CbVk</dc:identifier>
  <dcterms:modified xsi:type="dcterms:W3CDTF">2011-08-01T06:04:30Z</dcterms:modified>
  <cp:revision>1</cp:revision>
  <dc:title>Apresentação de Cyber Security</dc:title>
</cp:coreProperties>
</file>